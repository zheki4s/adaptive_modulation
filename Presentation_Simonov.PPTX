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2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9" r:id="rId12"/>
    <p:sldId id="272" r:id="rId13"/>
    <p:sldId id="265" r:id="rId14"/>
    <p:sldId id="273" r:id="rId15"/>
    <p:sldId id="267" r:id="rId16"/>
    <p:sldId id="268" r:id="rId1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164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.wmf"/><Relationship Id="rId1" Type="http://schemas.openxmlformats.org/officeDocument/2006/relationships/image" Target="../media/image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0BCED4-4D6E-47E4-9A58-EF37E727E972}" type="datetimeFigureOut">
              <a:rPr lang="ru-RU" smtClean="0"/>
              <a:pPr/>
              <a:t>22.05.2024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296A37-7290-4742-9FC5-8256E19FBB9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7460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296A37-7290-4742-9FC5-8256E19FBB90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90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296A37-7290-4742-9FC5-8256E19FBB90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20429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296A37-7290-4742-9FC5-8256E19FBB90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12889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A8CEC-8B7A-443D-B42A-BFB42A1487AF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0555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7F7CC-707A-4B28-BA90-A3B6191B6329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2383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1A43FA-49D7-480B-922E-CCF7DECB4256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5531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5"/>
            <a:ext cx="3703320" cy="4023359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5"/>
            <a:ext cx="370332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4CF2-CAA8-43A5-B3BF-4F44E4945C0A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5465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5"/>
            <a:ext cx="3703320" cy="32867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9A9C0-1088-4768-B1CF-2B10AE3A6C8F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2025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4CB9A-716C-404D-9E32-F8E6CD683554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7086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E07C0-90BD-480F-B517-1963A08BF60B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8509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731520"/>
            <a:ext cx="486918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E644CFED-A97B-49F8-A449-25D89C9506D8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384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036F6-BB18-4B1F-B1C4-BA1FEAE9D6C7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0095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A2868-71E6-4294-8835-B8B75A482DFB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8337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2302"/>
            <a:ext cx="1971675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2302"/>
            <a:ext cx="5800725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685EC-6D1B-4508-A049-AD1800FFF879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7509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9144001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AC10A20D-6864-42A6-9734-5AD0C27E309F}" type="datetime1">
              <a:rPr lang="ru-RU" smtClean="0"/>
              <a:pPr/>
              <a:t>22.05.2024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A6D1207-A211-430D-84A8-323056D46506}" type="slidenum">
              <a:rPr lang="ru-RU" smtClean="0"/>
              <a:pPr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693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3" r:id="rId1"/>
    <p:sldLayoutId id="2147483894" r:id="rId2"/>
    <p:sldLayoutId id="2147483895" r:id="rId3"/>
    <p:sldLayoutId id="2147483896" r:id="rId4"/>
    <p:sldLayoutId id="2147483897" r:id="rId5"/>
    <p:sldLayoutId id="2147483898" r:id="rId6"/>
    <p:sldLayoutId id="2147483899" r:id="rId7"/>
    <p:sldLayoutId id="2147483900" r:id="rId8"/>
    <p:sldLayoutId id="2147483901" r:id="rId9"/>
    <p:sldLayoutId id="2147483902" r:id="rId10"/>
    <p:sldLayoutId id="214748390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7060" y="1944517"/>
            <a:ext cx="8366760" cy="2285346"/>
          </a:xfrm>
        </p:spPr>
        <p:txBody>
          <a:bodyPr>
            <a:noAutofit/>
          </a:bodyPr>
          <a:lstStyle/>
          <a:p>
            <a:pPr algn="ctr"/>
            <a:r>
              <a:rPr lang="ru-RU" sz="4000" dirty="0" smtClean="0">
                <a:solidFill>
                  <a:schemeClr val="tx1"/>
                </a:solidFill>
              </a:rPr>
              <a:t>Тема</a:t>
            </a:r>
            <a:r>
              <a:rPr lang="en-US" sz="4000" b="1" dirty="0" smtClean="0">
                <a:solidFill>
                  <a:schemeClr val="tx1"/>
                </a:solidFill>
              </a:rPr>
              <a:t>: </a:t>
            </a:r>
            <a:r>
              <a:rPr lang="en-US" sz="5400" b="1" dirty="0" smtClean="0">
                <a:solidFill>
                  <a:schemeClr val="tx1"/>
                </a:solidFill>
              </a:rPr>
              <a:t/>
            </a:r>
            <a:br>
              <a:rPr lang="en-US" sz="5400" b="1" dirty="0" smtClean="0">
                <a:solidFill>
                  <a:schemeClr val="tx1"/>
                </a:solidFill>
              </a:rPr>
            </a:br>
            <a:r>
              <a:rPr lang="ru-RU" sz="3200" dirty="0" smtClean="0"/>
              <a:t>Эффективность адаптивной модуляции</a:t>
            </a:r>
            <a:br>
              <a:rPr lang="ru-RU" sz="3200" dirty="0" smtClean="0"/>
            </a:br>
            <a:r>
              <a:rPr lang="ru-RU" sz="3200" dirty="0" smtClean="0"/>
              <a:t>в системах мобильной связи при передаче</a:t>
            </a:r>
            <a:br>
              <a:rPr lang="ru-RU" sz="3200" dirty="0" smtClean="0"/>
            </a:br>
            <a:r>
              <a:rPr lang="ru-RU" sz="3200" dirty="0" smtClean="0"/>
              <a:t>информации в многолучевых каналах</a:t>
            </a:r>
            <a:endParaRPr lang="ru-RU" sz="32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84761" y="4381340"/>
            <a:ext cx="7543800" cy="1143000"/>
          </a:xfrm>
        </p:spPr>
        <p:txBody>
          <a:bodyPr>
            <a:normAutofit fontScale="92500"/>
          </a:bodyPr>
          <a:lstStyle/>
          <a:p>
            <a:r>
              <a:rPr lang="ru-RU" cap="none" dirty="0" smtClean="0">
                <a:solidFill>
                  <a:schemeClr val="tx1"/>
                </a:solidFill>
                <a:latin typeface="+mn-lt"/>
              </a:rPr>
              <a:t>Выполнил</a:t>
            </a:r>
            <a:r>
              <a:rPr lang="en-US" cap="none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ru-RU" cap="none" dirty="0" smtClean="0">
                <a:solidFill>
                  <a:schemeClr val="tx1"/>
                </a:solidFill>
                <a:latin typeface="+mn-lt"/>
              </a:rPr>
              <a:t>студент</a:t>
            </a:r>
            <a:r>
              <a:rPr lang="en-US" cap="none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ru-RU" cap="none" dirty="0" smtClean="0">
                <a:solidFill>
                  <a:schemeClr val="tx1"/>
                </a:solidFill>
                <a:latin typeface="+mn-lt"/>
              </a:rPr>
              <a:t>Симонов Е.Е.</a:t>
            </a:r>
          </a:p>
          <a:p>
            <a:r>
              <a:rPr lang="ru-RU" cap="none" dirty="0" smtClean="0">
                <a:solidFill>
                  <a:schemeClr val="tx1"/>
                </a:solidFill>
                <a:latin typeface="+mn-lt"/>
              </a:rPr>
              <a:t>Научный руководитель</a:t>
            </a:r>
            <a:r>
              <a:rPr lang="en-US" cap="none" dirty="0" smtClean="0">
                <a:solidFill>
                  <a:schemeClr val="tx1"/>
                </a:solidFill>
                <a:latin typeface="+mn-lt"/>
              </a:rPr>
              <a:t>:</a:t>
            </a:r>
            <a:r>
              <a:rPr lang="ru-RU" cap="none" dirty="0" smtClean="0">
                <a:solidFill>
                  <a:schemeClr val="tx1"/>
                </a:solidFill>
                <a:latin typeface="+mn-lt"/>
              </a:rPr>
              <a:t> профессор Мальцев А.А.</a:t>
            </a:r>
            <a:endParaRPr lang="ru-RU" cap="none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84761" y="449184"/>
            <a:ext cx="70713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 smtClean="0"/>
              <a:t>ННГУ имени Н.И. </a:t>
            </a:r>
            <a:r>
              <a:rPr lang="ru-RU" sz="4400" dirty="0" smtClean="0"/>
              <a:t>Лобачевского</a:t>
            </a:r>
            <a:endParaRPr lang="ru-RU" sz="3600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6120" y="449184"/>
            <a:ext cx="946859" cy="92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389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77880" y="830599"/>
            <a:ext cx="7543800" cy="836982"/>
          </a:xfrm>
        </p:spPr>
        <p:txBody>
          <a:bodyPr>
            <a:normAutofit/>
          </a:bodyPr>
          <a:lstStyle/>
          <a:p>
            <a:r>
              <a:rPr lang="ru-RU" sz="4400" dirty="0" smtClean="0">
                <a:solidFill>
                  <a:schemeClr val="tx1"/>
                </a:solidFill>
              </a:rPr>
              <a:t>Цель работы</a:t>
            </a:r>
            <a:endParaRPr lang="ru-RU" sz="4400" dirty="0">
              <a:solidFill>
                <a:schemeClr val="tx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77879" y="1837509"/>
            <a:ext cx="7543801" cy="4300244"/>
          </a:xfrm>
        </p:spPr>
        <p:txBody>
          <a:bodyPr>
            <a:normAutofit fontScale="25000" lnSpcReduction="20000"/>
          </a:bodyPr>
          <a:lstStyle/>
          <a:p>
            <a:pPr marL="201168" lvl="1" indent="0">
              <a:buNone/>
            </a:pPr>
            <a:r>
              <a:rPr lang="ru-RU" dirty="0"/>
              <a:t>	</a:t>
            </a:r>
            <a:endParaRPr lang="ru-RU" sz="8000" dirty="0" smtClean="0">
              <a:solidFill>
                <a:schemeClr val="tx1"/>
              </a:solidFill>
            </a:endParaRPr>
          </a:p>
          <a:p>
            <a:pPr marL="201168" lvl="1" indent="0">
              <a:lnSpc>
                <a:spcPct val="120000"/>
              </a:lnSpc>
              <a:buNone/>
            </a:pPr>
            <a:r>
              <a:rPr lang="ru-RU" sz="6400" dirty="0" smtClean="0">
                <a:solidFill>
                  <a:schemeClr val="tx1"/>
                </a:solidFill>
              </a:rPr>
              <a:t>	</a:t>
            </a:r>
            <a:r>
              <a:rPr lang="ru-RU" sz="9600" dirty="0">
                <a:solidFill>
                  <a:schemeClr val="tx1"/>
                </a:solidFill>
              </a:rPr>
              <a:t>Целью настоящей работы является исследование эффективности адаптивной модуляции в условиях многолучевого канала с </a:t>
            </a:r>
            <a:r>
              <a:rPr lang="ru-RU" sz="9600" dirty="0" err="1">
                <a:solidFill>
                  <a:schemeClr val="tx1"/>
                </a:solidFill>
              </a:rPr>
              <a:t>релеевскими</a:t>
            </a:r>
            <a:r>
              <a:rPr lang="ru-RU" sz="9600" dirty="0">
                <a:solidFill>
                  <a:schemeClr val="tx1"/>
                </a:solidFill>
              </a:rPr>
              <a:t> замираниями сигналов («городской» канал</a:t>
            </a:r>
            <a:r>
              <a:rPr lang="ru-RU" sz="9600" dirty="0" smtClean="0">
                <a:solidFill>
                  <a:schemeClr val="tx1"/>
                </a:solidFill>
              </a:rPr>
              <a:t>). </a:t>
            </a:r>
          </a:p>
          <a:p>
            <a:pPr marL="201168" lvl="1" indent="0">
              <a:lnSpc>
                <a:spcPct val="120000"/>
              </a:lnSpc>
              <a:buNone/>
            </a:pPr>
            <a:r>
              <a:rPr lang="ru-RU" sz="9600" dirty="0" smtClean="0">
                <a:solidFill>
                  <a:schemeClr val="tx1"/>
                </a:solidFill>
              </a:rPr>
              <a:t>	Сравнение систем с постоянной и адаптивной модуляцией</a:t>
            </a:r>
            <a:r>
              <a:rPr lang="en-US" sz="9600" dirty="0" smtClean="0">
                <a:solidFill>
                  <a:schemeClr val="tx1"/>
                </a:solidFill>
              </a:rPr>
              <a:t>, </a:t>
            </a:r>
            <a:r>
              <a:rPr lang="ru-RU" sz="9600" dirty="0" smtClean="0">
                <a:solidFill>
                  <a:schemeClr val="tx1"/>
                </a:solidFill>
              </a:rPr>
              <a:t>используя следующие метрики битовая и блоковая ошибк</a:t>
            </a:r>
            <a:r>
              <a:rPr lang="ru-RU" sz="9600" dirty="0">
                <a:solidFill>
                  <a:schemeClr val="tx1"/>
                </a:solidFill>
              </a:rPr>
              <a:t>и</a:t>
            </a:r>
            <a:r>
              <a:rPr lang="en-US" sz="9600" dirty="0" smtClean="0">
                <a:solidFill>
                  <a:schemeClr val="tx1"/>
                </a:solidFill>
              </a:rPr>
              <a:t>,</a:t>
            </a:r>
            <a:r>
              <a:rPr lang="ru-RU" sz="9600" dirty="0" smtClean="0">
                <a:solidFill>
                  <a:schemeClr val="tx1"/>
                </a:solidFill>
              </a:rPr>
              <a:t> а также пропускная способность.  </a:t>
            </a:r>
            <a:endParaRPr lang="ru-RU" dirty="0" smtClean="0"/>
          </a:p>
          <a:p>
            <a:pPr marL="201168" lvl="1" indent="0">
              <a:buNone/>
            </a:pPr>
            <a:r>
              <a:rPr lang="ru-RU" sz="2000" dirty="0"/>
              <a:t>	</a:t>
            </a:r>
            <a:endParaRPr lang="en-US" sz="2000" dirty="0" smtClean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2</a:t>
            </a:fld>
            <a:endParaRPr lang="ru-RU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9355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96983" y="884696"/>
            <a:ext cx="7603599" cy="775482"/>
          </a:xfrm>
        </p:spPr>
        <p:txBody>
          <a:bodyPr>
            <a:normAutofit/>
          </a:bodyPr>
          <a:lstStyle/>
          <a:p>
            <a:r>
              <a:rPr lang="ru-RU" sz="4400" dirty="0" smtClean="0">
                <a:solidFill>
                  <a:schemeClr val="tx1"/>
                </a:solidFill>
              </a:rPr>
              <a:t>Задачи</a:t>
            </a:r>
            <a:endParaRPr lang="ru-RU" sz="4400" dirty="0">
              <a:solidFill>
                <a:schemeClr val="tx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96983" y="1828800"/>
            <a:ext cx="7737847" cy="4537731"/>
          </a:xfrm>
        </p:spPr>
        <p:txBody>
          <a:bodyPr>
            <a:normAutofit fontScale="70000" lnSpcReduction="20000"/>
          </a:bodyPr>
          <a:lstStyle/>
          <a:p>
            <a:pPr marL="436626" lvl="1" indent="-285750">
              <a:lnSpc>
                <a:spcPct val="150000"/>
              </a:lnSpc>
            </a:pPr>
            <a:r>
              <a:rPr lang="ru-RU" sz="3100" dirty="0" smtClean="0">
                <a:solidFill>
                  <a:schemeClr val="tx1"/>
                </a:solidFill>
              </a:rPr>
              <a:t>В среде </a:t>
            </a:r>
            <a:r>
              <a:rPr lang="en-US" sz="3100" dirty="0" err="1" smtClean="0">
                <a:solidFill>
                  <a:schemeClr val="tx1"/>
                </a:solidFill>
              </a:rPr>
              <a:t>Matlab</a:t>
            </a:r>
            <a:r>
              <a:rPr lang="ru-RU" sz="3100" dirty="0" smtClean="0">
                <a:solidFill>
                  <a:schemeClr val="tx1"/>
                </a:solidFill>
              </a:rPr>
              <a:t> реализовать многолучевой канал используя модель Кларка</a:t>
            </a:r>
          </a:p>
          <a:p>
            <a:pPr marL="436626" lvl="1" indent="-285750">
              <a:lnSpc>
                <a:spcPct val="150000"/>
              </a:lnSpc>
            </a:pPr>
            <a:r>
              <a:rPr lang="ru-RU" sz="3100" dirty="0" smtClean="0">
                <a:solidFill>
                  <a:schemeClr val="tx1"/>
                </a:solidFill>
              </a:rPr>
              <a:t>Построить симулятор</a:t>
            </a:r>
            <a:r>
              <a:rPr lang="en-US" sz="3100" dirty="0" smtClean="0">
                <a:solidFill>
                  <a:schemeClr val="tx1"/>
                </a:solidFill>
              </a:rPr>
              <a:t>,</a:t>
            </a:r>
            <a:r>
              <a:rPr lang="ru-RU" sz="3100" dirty="0" smtClean="0">
                <a:solidFill>
                  <a:schemeClr val="tx1"/>
                </a:solidFill>
              </a:rPr>
              <a:t> включающий в себя ряд модуляций</a:t>
            </a:r>
            <a:r>
              <a:rPr lang="en-US" sz="3100" dirty="0" smtClean="0">
                <a:solidFill>
                  <a:schemeClr val="tx1"/>
                </a:solidFill>
              </a:rPr>
              <a:t>, </a:t>
            </a:r>
            <a:r>
              <a:rPr lang="ru-RU" sz="3100" dirty="0" smtClean="0">
                <a:solidFill>
                  <a:schemeClr val="tx1"/>
                </a:solidFill>
              </a:rPr>
              <a:t>с возможностью их переключения в зависимости от состояния канала</a:t>
            </a:r>
            <a:r>
              <a:rPr lang="en-US" sz="3100" dirty="0" smtClean="0">
                <a:solidFill>
                  <a:schemeClr val="tx1"/>
                </a:solidFill>
              </a:rPr>
              <a:t>, </a:t>
            </a:r>
            <a:r>
              <a:rPr lang="ru-RU" sz="3100" dirty="0" smtClean="0">
                <a:solidFill>
                  <a:schemeClr val="tx1"/>
                </a:solidFill>
              </a:rPr>
              <a:t>учесть задержки на обратную связь</a:t>
            </a:r>
            <a:r>
              <a:rPr lang="en-US" sz="3100" dirty="0" smtClean="0">
                <a:solidFill>
                  <a:schemeClr val="tx1"/>
                </a:solidFill>
              </a:rPr>
              <a:t>,</a:t>
            </a:r>
            <a:r>
              <a:rPr lang="ru-RU" sz="3100" dirty="0" smtClean="0">
                <a:solidFill>
                  <a:schemeClr val="tx1"/>
                </a:solidFill>
              </a:rPr>
              <a:t> а так-же возможные погрешности при оценке канала.</a:t>
            </a:r>
          </a:p>
          <a:p>
            <a:pPr marL="436626" lvl="1" indent="-285750">
              <a:lnSpc>
                <a:spcPct val="150000"/>
              </a:lnSpc>
            </a:pPr>
            <a:r>
              <a:rPr lang="ru-RU" sz="3100" dirty="0" smtClean="0">
                <a:solidFill>
                  <a:schemeClr val="tx1"/>
                </a:solidFill>
              </a:rPr>
              <a:t>Используя созданную модель получить  метрики для исследования эффективности адаптивной модуляции</a:t>
            </a:r>
            <a:r>
              <a:rPr lang="en-US" sz="3100" dirty="0">
                <a:solidFill>
                  <a:schemeClr val="tx1"/>
                </a:solidFill>
              </a:rPr>
              <a:t> </a:t>
            </a:r>
            <a:r>
              <a:rPr lang="ru-RU" sz="3100" dirty="0" err="1" smtClean="0">
                <a:solidFill>
                  <a:schemeClr val="tx1"/>
                </a:solidFill>
              </a:rPr>
              <a:t>т.е</a:t>
            </a:r>
            <a:r>
              <a:rPr lang="ru-RU" sz="3100" dirty="0" smtClean="0">
                <a:solidFill>
                  <a:schemeClr val="tx1"/>
                </a:solidFill>
              </a:rPr>
              <a:t> </a:t>
            </a:r>
            <a:r>
              <a:rPr lang="en-US" sz="3100" dirty="0" smtClean="0">
                <a:solidFill>
                  <a:schemeClr val="tx1"/>
                </a:solidFill>
              </a:rPr>
              <a:t>BER, BLER </a:t>
            </a:r>
            <a:r>
              <a:rPr lang="ru-RU" sz="3100" dirty="0" smtClean="0">
                <a:solidFill>
                  <a:schemeClr val="tx1"/>
                </a:solidFill>
              </a:rPr>
              <a:t>и </a:t>
            </a:r>
            <a:r>
              <a:rPr lang="en-US" sz="3100" dirty="0">
                <a:solidFill>
                  <a:schemeClr val="tx1"/>
                </a:solidFill>
              </a:rPr>
              <a:t>t</a:t>
            </a:r>
            <a:r>
              <a:rPr lang="en-US" sz="3100" dirty="0" smtClean="0">
                <a:solidFill>
                  <a:schemeClr val="tx1"/>
                </a:solidFill>
              </a:rPr>
              <a:t>hroughput</a:t>
            </a:r>
            <a:endParaRPr lang="ru-RU" sz="3100" dirty="0" smtClean="0">
              <a:solidFill>
                <a:schemeClr val="tx1"/>
              </a:solidFill>
            </a:endParaRPr>
          </a:p>
          <a:p>
            <a:pPr marL="436626" lvl="1" indent="-285750"/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3</a:t>
            </a:fld>
            <a:endParaRPr lang="ru-RU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624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22959" y="680461"/>
            <a:ext cx="7543800" cy="1031008"/>
          </a:xfrm>
        </p:spPr>
        <p:txBody>
          <a:bodyPr>
            <a:normAutofit/>
          </a:bodyPr>
          <a:lstStyle/>
          <a:p>
            <a:r>
              <a:rPr lang="ru-RU" sz="4400" dirty="0" smtClean="0">
                <a:solidFill>
                  <a:schemeClr val="tx1"/>
                </a:solidFill>
              </a:rPr>
              <a:t>Модуляция и демодуляция</a:t>
            </a:r>
            <a:endParaRPr lang="ru-RU" sz="4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Объект 9"/>
              <p:cNvSpPr>
                <a:spLocks noGrp="1"/>
              </p:cNvSpPr>
              <p:nvPr>
                <p:ph idx="1"/>
              </p:nvPr>
            </p:nvSpPr>
            <p:spPr>
              <a:xfrm>
                <a:off x="822959" y="1802673"/>
                <a:ext cx="7259402" cy="436861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 smtClean="0"/>
                  <a:t>   Модуляции</a:t>
                </a:r>
                <a:r>
                  <a:rPr lang="en-US" dirty="0" smtClean="0"/>
                  <a:t>,</a:t>
                </a:r>
                <a:r>
                  <a:rPr lang="ru-RU" dirty="0" smtClean="0"/>
                  <a:t> поддерживаемые моделью</a:t>
                </a:r>
                <a:r>
                  <a:rPr lang="en-US" dirty="0" smtClean="0"/>
                  <a:t>: </a:t>
                </a:r>
                <a:r>
                  <a:rPr lang="ru-RU" dirty="0" smtClean="0"/>
                  <a:t>2-ФМ</a:t>
                </a:r>
                <a:r>
                  <a:rPr lang="en-US" dirty="0" smtClean="0"/>
                  <a:t>, 4-</a:t>
                </a:r>
                <a:r>
                  <a:rPr lang="ru-RU" dirty="0" smtClean="0"/>
                  <a:t>ФМ</a:t>
                </a:r>
                <a:r>
                  <a:rPr lang="en-US" dirty="0" smtClean="0"/>
                  <a:t>, 8-</a:t>
                </a:r>
                <a:r>
                  <a:rPr lang="ru-RU" dirty="0" smtClean="0"/>
                  <a:t>ФМ</a:t>
                </a:r>
                <a:r>
                  <a:rPr lang="en-US" dirty="0" smtClean="0"/>
                  <a:t>, 16-</a:t>
                </a:r>
                <a:r>
                  <a:rPr lang="ru-RU" dirty="0" smtClean="0"/>
                  <a:t>КАМ</a:t>
                </a:r>
                <a:r>
                  <a:rPr lang="en-US" dirty="0" smtClean="0"/>
                  <a:t>, 64-К</a:t>
                </a:r>
                <a:r>
                  <a:rPr lang="ru-RU" dirty="0" smtClean="0"/>
                  <a:t>АМ. </a:t>
                </a:r>
              </a:p>
              <a:p>
                <a:pPr marL="0" indent="0">
                  <a:buNone/>
                </a:pPr>
                <a:r>
                  <a:rPr lang="ru-RU" dirty="0" smtClean="0"/>
                  <a:t>   </a:t>
                </a:r>
                <a:r>
                  <a:rPr lang="ru-RU" sz="2000" dirty="0" smtClean="0"/>
                  <a:t>По принятым комплексным символам</a:t>
                </a:r>
                <a:r>
                  <a:rPr lang="en-US" sz="2000" dirty="0" smtClean="0"/>
                  <a:t>,</a:t>
                </a:r>
                <a:r>
                  <a:rPr lang="ru-RU" sz="2000" dirty="0" smtClean="0"/>
                  <a:t> на каждый бит считаются логарифм отношения вероятностей</a:t>
                </a:r>
                <a:r>
                  <a:rPr lang="en-US" sz="2000" dirty="0" smtClean="0"/>
                  <a:t>:</a:t>
                </a:r>
              </a:p>
              <a:p>
                <a:pPr marL="0" indent="0">
                  <a:buNone/>
                </a:pPr>
                <a:endParaRPr lang="en-US" dirty="0" smtClean="0"/>
              </a:p>
              <a:p>
                <a:pPr marL="201168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𝐿𝐿𝑅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{"/>
                          <m:endChr m:val="}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=1|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=0|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{"/>
                          <m:endChr m:val="}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=1)</m:t>
                              </m:r>
                            </m:num>
                            <m:den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=0)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ru-RU" dirty="0" smtClean="0"/>
              </a:p>
              <a:p>
                <a:pPr marL="201168" lvl="1" indent="0">
                  <a:buNone/>
                </a:pPr>
                <a:endParaRPr lang="ru-RU" dirty="0" smtClean="0"/>
              </a:p>
              <a:p>
                <a:pPr marL="201168" lvl="1" indent="0">
                  <a:buNone/>
                </a:pPr>
                <a:r>
                  <a:rPr lang="ru-RU" sz="2000" dirty="0" smtClean="0"/>
                  <a:t>  Используя правил о Байеса и аппроксимацию 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begChr m:val="{"/>
                        <m:endChr m:val="}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ru-RU" sz="2000" i="1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𝑚𝑎𝑥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𝑙𝑜𝑔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ru-RU" sz="2000" dirty="0"/>
                  <a:t>,</a:t>
                </a:r>
                <a:r>
                  <a:rPr lang="ru-RU" sz="2000" dirty="0" smtClean="0"/>
                  <a:t> имеем</a:t>
                </a:r>
              </a:p>
              <a:p>
                <a:pPr marL="201168" lvl="1" indent="0">
                  <a:buNone/>
                </a:pPr>
                <a:r>
                  <a:rPr lang="ru-RU" sz="2000" dirty="0" smtClean="0"/>
                  <a:t>общий вид выражения для подсчета </a:t>
                </a:r>
                <a:r>
                  <a:rPr lang="en-US" sz="2000" dirty="0" smtClean="0"/>
                  <a:t>LLR:</a:t>
                </a:r>
                <a:endParaRPr lang="ru-RU" sz="2000" dirty="0" smtClean="0"/>
              </a:p>
              <a:p>
                <a:pPr marL="201168" lvl="1" indent="0">
                  <a:buNone/>
                </a:pPr>
                <a:endParaRPr lang="en-US" dirty="0" smtClean="0"/>
              </a:p>
              <a:p>
                <a:pPr marL="201168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𝐿𝐿𝑅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p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ru-RU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(0)</m:t>
                              </m:r>
                            </m:sup>
                          </m:sSup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ru-RU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 smtClean="0"/>
              </a:p>
              <a:p>
                <a:pPr marL="201168" lvl="1" indent="0">
                  <a:buNone/>
                </a:pPr>
                <a:endParaRPr lang="en-US" dirty="0" smtClean="0"/>
              </a:p>
              <a:p>
                <a:pPr marL="201168" lvl="1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10" name="Объект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959" y="1802673"/>
                <a:ext cx="7259402" cy="4368613"/>
              </a:xfrm>
              <a:blipFill rotWithShape="0">
                <a:blip r:embed="rId2"/>
                <a:stretch>
                  <a:fillRect l="-2099" t="-2095" r="-20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4</a:t>
            </a:fld>
            <a:endParaRPr lang="ru-RU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6952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18197" y="952445"/>
            <a:ext cx="7543800" cy="740222"/>
          </a:xfrm>
        </p:spPr>
        <p:txBody>
          <a:bodyPr>
            <a:normAutofit/>
          </a:bodyPr>
          <a:lstStyle/>
          <a:p>
            <a:r>
              <a:rPr lang="ru-RU" sz="4400" dirty="0" smtClean="0">
                <a:solidFill>
                  <a:schemeClr val="tx1"/>
                </a:solidFill>
              </a:rPr>
              <a:t>Модель Кларка </a:t>
            </a:r>
            <a:endParaRPr lang="ru-RU" sz="4400" dirty="0">
              <a:solidFill>
                <a:schemeClr val="tx1"/>
              </a:solidFill>
            </a:endParaRPr>
          </a:p>
        </p:txBody>
      </p:sp>
      <p:pic>
        <p:nvPicPr>
          <p:cNvPr id="4" name="Объект 3" descr="Рисунок2.jpg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7789" y="1820296"/>
            <a:ext cx="3676881" cy="199127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5</a:t>
            </a:fld>
            <a:endParaRPr lang="ru-RU" sz="1800" dirty="0">
              <a:solidFill>
                <a:schemeClr val="tx1"/>
              </a:solidFill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197" y="5086320"/>
            <a:ext cx="5690587" cy="433765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197" y="5756509"/>
            <a:ext cx="4402618" cy="30017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Прямоугольник 4"/>
              <p:cNvSpPr/>
              <p:nvPr/>
            </p:nvSpPr>
            <p:spPr>
              <a:xfrm>
                <a:off x="818197" y="4195961"/>
                <a:ext cx="7591166" cy="9106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)=</m:t>
                      </m:r>
                      <m:rad>
                        <m:radPr>
                          <m:degHide m:val="o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nary>
                        <m:naryPr>
                          <m:chr m:val="∑"/>
                          <m:limLoc m:val="subSup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begChr m:val="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</m:s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</m:d>
                        </m:e>
                      </m:nary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f>
                                <m:f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πn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func>
                        <m:func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lΔt</m:t>
                              </m:r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ru-RU" i="0">
                                          <a:latin typeface="Cambria Math" panose="02040503050406030204" pitchFamily="18" charset="0"/>
                                        </a:rPr>
                                        <m:t>π</m:t>
                                      </m:r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n</m:t>
                                              </m:r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−0.5</m:t>
                                              </m:r>
                                            </m:num>
                                            <m:den>
                                              <m:r>
                                                <a:rPr lang="ru-RU" i="0">
                                                  <a:latin typeface="Cambria Math" panose="02040503050406030204" pitchFamily="18" charset="0"/>
                                                </a:rPr>
                                                <m:t>4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ru-RU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ru-RU" i="0">
                                                      <a:latin typeface="Cambria Math" panose="02040503050406030204" pitchFamily="18" charset="0"/>
                                                    </a:rPr>
                                                    <m:t>N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ru-RU" i="0"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197" y="4195961"/>
                <a:ext cx="7591166" cy="910699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2245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17200" y="417600"/>
            <a:ext cx="7543801" cy="741600"/>
          </a:xfrm>
        </p:spPr>
        <p:txBody>
          <a:bodyPr>
            <a:normAutofit/>
          </a:bodyPr>
          <a:lstStyle/>
          <a:p>
            <a:r>
              <a:rPr lang="ru-RU" sz="4400" dirty="0" smtClean="0">
                <a:solidFill>
                  <a:schemeClr val="tx1"/>
                </a:solidFill>
              </a:rPr>
              <a:t>Модель Кларка</a:t>
            </a:r>
            <a:endParaRPr lang="ru-RU" sz="4400" dirty="0">
              <a:solidFill>
                <a:schemeClr val="tx1"/>
              </a:solidFill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6</a:t>
            </a:fld>
            <a:endParaRPr lang="ru-RU" sz="1800" dirty="0">
              <a:solidFill>
                <a:schemeClr val="tx1"/>
              </a:solidFill>
            </a:endParaRPr>
          </a:p>
        </p:txBody>
      </p:sp>
      <p:pic>
        <p:nvPicPr>
          <p:cNvPr id="9" name="Рисунок 8"/>
          <p:cNvPicPr/>
          <p:nvPr/>
        </p:nvPicPr>
        <p:blipFill>
          <a:blip r:embed="rId2"/>
          <a:stretch>
            <a:fillRect/>
          </a:stretch>
        </p:blipFill>
        <p:spPr>
          <a:xfrm>
            <a:off x="2079262" y="1921639"/>
            <a:ext cx="5019675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377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22958" y="373606"/>
            <a:ext cx="7543801" cy="860155"/>
          </a:xfrm>
        </p:spPr>
        <p:txBody>
          <a:bodyPr>
            <a:noAutofit/>
          </a:bodyPr>
          <a:lstStyle/>
          <a:p>
            <a:r>
              <a:rPr lang="ru-RU" sz="4000" dirty="0" smtClean="0">
                <a:solidFill>
                  <a:schemeClr val="tx1"/>
                </a:solidFill>
              </a:rPr>
              <a:t>Статистические характеристики модели Кларка</a:t>
            </a:r>
            <a:endParaRPr lang="ru-RU" sz="4000" dirty="0">
              <a:solidFill>
                <a:schemeClr val="tx1"/>
              </a:solidFill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7</a:t>
            </a:fld>
            <a:endParaRPr lang="ru-RU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0284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5562" y="853371"/>
            <a:ext cx="7543801" cy="860155"/>
          </a:xfrm>
        </p:spPr>
        <p:txBody>
          <a:bodyPr>
            <a:normAutofit fontScale="90000"/>
          </a:bodyPr>
          <a:lstStyle/>
          <a:p>
            <a:r>
              <a:rPr lang="ru-RU" sz="4400" dirty="0" smtClean="0">
                <a:solidFill>
                  <a:schemeClr val="tx1"/>
                </a:solidFill>
              </a:rPr>
              <a:t>Вероятность битовой ошибки в </a:t>
            </a:r>
            <a:r>
              <a:rPr lang="ru-RU" sz="4400" dirty="0" err="1" smtClean="0">
                <a:solidFill>
                  <a:schemeClr val="tx1"/>
                </a:solidFill>
              </a:rPr>
              <a:t>релеевском</a:t>
            </a:r>
            <a:r>
              <a:rPr lang="ru-RU" sz="4400" dirty="0" smtClean="0">
                <a:solidFill>
                  <a:schemeClr val="tx1"/>
                </a:solidFill>
              </a:rPr>
              <a:t> канале</a:t>
            </a:r>
            <a:endParaRPr lang="ru-RU" sz="44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8</a:t>
            </a:fld>
            <a:endParaRPr lang="ru-RU" sz="1800" dirty="0">
              <a:solidFill>
                <a:schemeClr val="tx1"/>
              </a:solidFill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151" y="1904070"/>
            <a:ext cx="4905375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385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5133" y="180884"/>
            <a:ext cx="8218954" cy="1005826"/>
          </a:xfrm>
        </p:spPr>
        <p:txBody>
          <a:bodyPr>
            <a:noAutofit/>
          </a:bodyPr>
          <a:lstStyle/>
          <a:p>
            <a:r>
              <a:rPr lang="ru-RU" sz="4000" dirty="0" smtClean="0">
                <a:solidFill>
                  <a:schemeClr val="tx1"/>
                </a:solidFill>
              </a:rPr>
              <a:t>Блоковая ошибка и пропускная способность</a:t>
            </a:r>
            <a:endParaRPr lang="ru-RU" sz="4000" dirty="0">
              <a:solidFill>
                <a:schemeClr val="tx1"/>
              </a:solidFill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9</a:t>
            </a:fld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939114" y="1643449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5" name="Объект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53064493"/>
              </p:ext>
            </p:extLst>
          </p:nvPr>
        </p:nvGraphicFramePr>
        <p:xfrm>
          <a:off x="642551" y="5403870"/>
          <a:ext cx="2724150" cy="59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8" r:id="rId3" imgW="2730500" imgH="584200" progId="Equation.3">
                  <p:embed/>
                </p:oleObj>
              </mc:Choice>
              <mc:Fallback>
                <p:oleObj r:id="rId3" imgW="2730500" imgH="584200" progId="Equation.3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2551" y="5403870"/>
                        <a:ext cx="2724150" cy="5905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939114" y="2233999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kumimoji="0" lang="ru-RU" altLang="ru-RU" sz="6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5313405" y="551554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12" name="Объект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8715729"/>
              </p:ext>
            </p:extLst>
          </p:nvPr>
        </p:nvGraphicFramePr>
        <p:xfrm>
          <a:off x="4683211" y="5108707"/>
          <a:ext cx="3390900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9" r:id="rId5" imgW="3390900" imgH="520700" progId="Equation.3">
                  <p:embed/>
                </p:oleObj>
              </mc:Choice>
              <mc:Fallback>
                <p:oleObj r:id="rId5" imgW="3390900" imgH="5207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3211" y="5108707"/>
                        <a:ext cx="3390900" cy="523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tangle 7"/>
          <p:cNvSpPr>
            <a:spLocks noChangeArrowheads="1"/>
          </p:cNvSpPr>
          <p:nvPr/>
        </p:nvSpPr>
        <p:spPr bwMode="auto">
          <a:xfrm>
            <a:off x="322610" y="537064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kumimoji="0" lang="ru-RU" altLang="ru-RU" sz="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2572" y="1347413"/>
            <a:ext cx="4379755" cy="356649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40906" y="5672295"/>
            <a:ext cx="43614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 err="1" smtClean="0"/>
              <a:t>N</a:t>
            </a:r>
            <a:r>
              <a:rPr lang="ru-RU" sz="1200" i="1" baseline="-25000" dirty="0" err="1" smtClean="0"/>
              <a:t>t</a:t>
            </a:r>
            <a:r>
              <a:rPr lang="ru-RU" sz="1200" dirty="0" smtClean="0"/>
              <a:t> </a:t>
            </a:r>
            <a:r>
              <a:rPr lang="ru-RU" sz="1200" dirty="0"/>
              <a:t>– общее число символов; </a:t>
            </a:r>
            <a:r>
              <a:rPr lang="ru-RU" sz="1200" i="1" dirty="0" err="1"/>
              <a:t>N</a:t>
            </a:r>
            <a:r>
              <a:rPr lang="ru-RU" sz="1200" i="1" baseline="-25000" dirty="0" err="1"/>
              <a:t>p</a:t>
            </a:r>
            <a:r>
              <a:rPr lang="ru-RU" sz="1200" dirty="0"/>
              <a:t> – число пилотных символов, </a:t>
            </a:r>
            <a:r>
              <a:rPr lang="ru-RU" sz="1200" i="1" dirty="0" err="1"/>
              <a:t>k</a:t>
            </a:r>
            <a:r>
              <a:rPr lang="ru-RU" sz="1200" i="1" baseline="-25000" dirty="0" err="1"/>
              <a:t>b</a:t>
            </a:r>
            <a:r>
              <a:rPr lang="ru-RU" sz="1200" dirty="0"/>
              <a:t> - уровень модуляции (битовая загрузка символа), </a:t>
            </a:r>
            <a:r>
              <a:rPr lang="ru-RU" sz="1200" i="1" dirty="0" err="1"/>
              <a:t>R</a:t>
            </a:r>
            <a:r>
              <a:rPr lang="ru-RU" sz="1200" i="1" baseline="-25000" dirty="0" err="1"/>
              <a:t>c</a:t>
            </a:r>
            <a:r>
              <a:rPr lang="ru-RU" sz="1200" dirty="0"/>
              <a:t> - скорость кода.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874" y="1343461"/>
            <a:ext cx="4236698" cy="3570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349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8375" y="866682"/>
            <a:ext cx="7227894" cy="844740"/>
          </a:xfrm>
        </p:spPr>
        <p:txBody>
          <a:bodyPr>
            <a:noAutofit/>
          </a:bodyPr>
          <a:lstStyle/>
          <a:p>
            <a:r>
              <a:rPr lang="ru-RU" sz="3600" dirty="0" smtClean="0">
                <a:solidFill>
                  <a:schemeClr val="tx1"/>
                </a:solidFill>
              </a:rPr>
              <a:t>Эффективность адаптивной модуляции</a:t>
            </a:r>
            <a:endParaRPr lang="ru-RU" sz="3600" dirty="0">
              <a:solidFill>
                <a:schemeClr val="tx1"/>
              </a:solidFill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10</a:t>
            </a:fld>
            <a:endParaRPr lang="ru-RU" sz="1800" dirty="0">
              <a:solidFill>
                <a:schemeClr val="tx1"/>
              </a:solidFill>
            </a:endParaRPr>
          </a:p>
        </p:txBody>
      </p:sp>
      <p:pic>
        <p:nvPicPr>
          <p:cNvPr id="6" name="Рисунок 5" descr="C:\Users\1\Desktop\диплом\диплом\текст!\2222222.jpg"/>
          <p:cNvPicPr/>
          <p:nvPr/>
        </p:nvPicPr>
        <p:blipFill>
          <a:blip r:embed="rId2" cstate="print"/>
          <a:srcRect b="15721"/>
          <a:stretch>
            <a:fillRect/>
          </a:stretch>
        </p:blipFill>
        <p:spPr bwMode="auto">
          <a:xfrm>
            <a:off x="888375" y="2058624"/>
            <a:ext cx="7650915" cy="25070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818606" y="4912832"/>
            <a:ext cx="77206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	</a:t>
            </a:r>
            <a:r>
              <a:rPr lang="ru-RU" sz="2000" dirty="0" smtClean="0"/>
              <a:t>По заранее известному обучающему сигналу производится оценка ОСШ</a:t>
            </a:r>
            <a:r>
              <a:rPr lang="en-US" sz="2000" dirty="0" smtClean="0"/>
              <a:t>,</a:t>
            </a:r>
            <a:r>
              <a:rPr lang="ru-RU" sz="2000" dirty="0" smtClean="0"/>
              <a:t> в зависимости от ОСШ производится выбор</a:t>
            </a:r>
            <a:r>
              <a:rPr lang="en-US" sz="2000" dirty="0" smtClean="0"/>
              <a:t> </a:t>
            </a:r>
            <a:r>
              <a:rPr lang="ru-RU" sz="2000" dirty="0" smtClean="0"/>
              <a:t>битовой загрузки символа</a:t>
            </a:r>
            <a:r>
              <a:rPr lang="en-US" sz="2000" dirty="0" smtClean="0"/>
              <a:t>,</a:t>
            </a:r>
            <a:r>
              <a:rPr lang="ru-RU" sz="2000" dirty="0" smtClean="0"/>
              <a:t> </a:t>
            </a:r>
            <a:r>
              <a:rPr lang="ru-RU" sz="2000" dirty="0" err="1" smtClean="0"/>
              <a:t>т.е</a:t>
            </a:r>
            <a:r>
              <a:rPr lang="ru-RU" sz="2000" dirty="0" smtClean="0"/>
              <a:t> модуляции.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83876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96983" y="632505"/>
            <a:ext cx="6827208" cy="1111657"/>
          </a:xfrm>
        </p:spPr>
        <p:txBody>
          <a:bodyPr>
            <a:normAutofit fontScale="90000"/>
          </a:bodyPr>
          <a:lstStyle/>
          <a:p>
            <a:r>
              <a:rPr lang="ru-RU" sz="4000" dirty="0" smtClean="0"/>
              <a:t>Выбор порогов для адаптивной модуляции</a:t>
            </a:r>
            <a:endParaRPr lang="ru-RU" sz="4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11</a:t>
            </a:fld>
            <a:endParaRPr lang="ru-RU" sz="1800" dirty="0">
              <a:solidFill>
                <a:schemeClr val="tx1"/>
              </a:solidFill>
            </a:endParaRPr>
          </a:p>
        </p:txBody>
      </p:sp>
      <p:pic>
        <p:nvPicPr>
          <p:cNvPr id="8" name="Рисунок 7" descr="F:\am1.jp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914" y="1893168"/>
            <a:ext cx="4838700" cy="33432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646789" y="5140650"/>
            <a:ext cx="78409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    Пороги </a:t>
            </a:r>
            <a:r>
              <a:rPr lang="en-US" sz="2000" dirty="0" smtClean="0"/>
              <a:t>P1 </a:t>
            </a:r>
            <a:r>
              <a:rPr lang="ru-RU" sz="2000" dirty="0" smtClean="0"/>
              <a:t>и </a:t>
            </a:r>
            <a:r>
              <a:rPr lang="en-US" sz="2000" dirty="0" smtClean="0"/>
              <a:t>P2</a:t>
            </a:r>
            <a:r>
              <a:rPr lang="ru-RU" sz="2000" dirty="0" smtClean="0"/>
              <a:t> выбираются таким образом</a:t>
            </a:r>
            <a:r>
              <a:rPr lang="en-US" sz="2000" dirty="0" smtClean="0"/>
              <a:t>,</a:t>
            </a:r>
            <a:r>
              <a:rPr lang="ru-RU" sz="2000" dirty="0" smtClean="0"/>
              <a:t> чтобы все модуляции использовались равновероятно</a:t>
            </a:r>
            <a:r>
              <a:rPr lang="en-US" sz="2000" dirty="0" smtClean="0"/>
              <a:t> 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075512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244" y="200416"/>
            <a:ext cx="7570119" cy="974768"/>
          </a:xfrm>
        </p:spPr>
        <p:txBody>
          <a:bodyPr>
            <a:normAutofit/>
          </a:bodyPr>
          <a:lstStyle/>
          <a:p>
            <a:r>
              <a:rPr lang="ru-RU" sz="2800" dirty="0" smtClean="0"/>
              <a:t>Результаты</a:t>
            </a:r>
            <a:endParaRPr lang="ru-RU" sz="28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12</a:t>
            </a:fld>
            <a:endParaRPr lang="ru-RU" sz="1800" dirty="0">
              <a:solidFill>
                <a:schemeClr val="tx1"/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51" y="1561010"/>
            <a:ext cx="3832692" cy="3019697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303" y="1561009"/>
            <a:ext cx="3936223" cy="301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091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8579" y="25052"/>
            <a:ext cx="8045468" cy="1065644"/>
          </a:xfrm>
        </p:spPr>
        <p:txBody>
          <a:bodyPr>
            <a:noAutofit/>
          </a:bodyPr>
          <a:lstStyle/>
          <a:p>
            <a:endParaRPr lang="ru-RU" sz="3200" dirty="0">
              <a:solidFill>
                <a:schemeClr val="tx1"/>
              </a:solidFill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13</a:t>
            </a:fld>
            <a:endParaRPr lang="ru-RU" sz="1800" dirty="0">
              <a:solidFill>
                <a:schemeClr val="tx1"/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13" y="1782672"/>
            <a:ext cx="3931089" cy="314638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313" y="1782672"/>
            <a:ext cx="3845576" cy="3146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21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8579" y="25052"/>
            <a:ext cx="8045468" cy="1065644"/>
          </a:xfrm>
        </p:spPr>
        <p:txBody>
          <a:bodyPr>
            <a:noAutofit/>
          </a:bodyPr>
          <a:lstStyle/>
          <a:p>
            <a:endParaRPr lang="ru-RU" sz="3200" dirty="0">
              <a:solidFill>
                <a:schemeClr val="tx1"/>
              </a:solidFill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14</a:t>
            </a:fld>
            <a:endParaRPr lang="ru-RU" sz="1800" dirty="0">
              <a:solidFill>
                <a:schemeClr val="tx1"/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09" y="1835739"/>
            <a:ext cx="3981458" cy="3284901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670" y="1835739"/>
            <a:ext cx="4206564" cy="328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8262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400" dirty="0" smtClean="0">
                <a:solidFill>
                  <a:schemeClr val="tx1"/>
                </a:solidFill>
              </a:rPr>
              <a:t>Заключение</a:t>
            </a:r>
            <a:endParaRPr lang="ru-RU" sz="4400" dirty="0">
              <a:solidFill>
                <a:schemeClr val="tx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22960" y="1737361"/>
            <a:ext cx="7543801" cy="4023360"/>
          </a:xfrm>
        </p:spPr>
        <p:txBody>
          <a:bodyPr>
            <a:normAutofit/>
          </a:bodyPr>
          <a:lstStyle/>
          <a:p>
            <a:pPr marL="201168" lvl="1" indent="0">
              <a:buNone/>
            </a:pPr>
            <a:endParaRPr lang="ru-RU" dirty="0" smtClean="0">
              <a:solidFill>
                <a:schemeClr val="tx1"/>
              </a:solidFill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15</a:t>
            </a:fld>
            <a:endParaRPr lang="ru-RU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4149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D1207-A211-430D-84A8-323056D46506}" type="slidenum">
              <a:rPr lang="ru-RU" sz="1800" smtClean="0">
                <a:solidFill>
                  <a:schemeClr val="tx1"/>
                </a:solidFill>
              </a:rPr>
              <a:pPr/>
              <a:t>16</a:t>
            </a:fld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4294967295"/>
          </p:nvPr>
        </p:nvSpPr>
        <p:spPr>
          <a:xfrm>
            <a:off x="1600200" y="1846263"/>
            <a:ext cx="7543800" cy="4022725"/>
          </a:xfrm>
        </p:spPr>
        <p:txBody>
          <a:bodyPr/>
          <a:lstStyle/>
          <a:p>
            <a:endParaRPr lang="ru-RU" dirty="0" smtClean="0"/>
          </a:p>
          <a:p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247800" y="2786789"/>
            <a:ext cx="75621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5400" dirty="0" smtClean="0"/>
              <a:t>Спасибо за внимание!</a:t>
            </a:r>
            <a:endParaRPr lang="ru-RU" sz="5400" dirty="0"/>
          </a:p>
        </p:txBody>
      </p:sp>
    </p:spTree>
    <p:extLst>
      <p:ext uri="{BB962C8B-B14F-4D97-AF65-F5344CB8AC3E}">
        <p14:creationId xmlns:p14="http://schemas.microsoft.com/office/powerpoint/2010/main" val="8677555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2682</TotalTime>
  <Words>210</Words>
  <Application>Microsoft Office PowerPoint</Application>
  <PresentationFormat>Экран (4:3)</PresentationFormat>
  <Paragraphs>57</Paragraphs>
  <Slides>16</Slides>
  <Notes>3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Times New Roman</vt:lpstr>
      <vt:lpstr>Ретро</vt:lpstr>
      <vt:lpstr>Equation.3</vt:lpstr>
      <vt:lpstr>Тема:  Эффективность адаптивной модуляции в системах мобильной связи при передаче информации в многолучевых каналах</vt:lpstr>
      <vt:lpstr>Цель работы</vt:lpstr>
      <vt:lpstr>Задачи</vt:lpstr>
      <vt:lpstr>Модуляция и демодуляция</vt:lpstr>
      <vt:lpstr>Модель Кларка </vt:lpstr>
      <vt:lpstr>Модель Кларка</vt:lpstr>
      <vt:lpstr>Статистические характеристики модели Кларка</vt:lpstr>
      <vt:lpstr>Вероятность битовой ошибки в релеевском канале</vt:lpstr>
      <vt:lpstr>Блоковая ошибка и пропускная способность</vt:lpstr>
      <vt:lpstr>Эффективность адаптивной модуляции</vt:lpstr>
      <vt:lpstr>Выбор порогов для адаптивной модуляции</vt:lpstr>
      <vt:lpstr>Результаты</vt:lpstr>
      <vt:lpstr>Презентация PowerPoint</vt:lpstr>
      <vt:lpstr>Презентация PowerPoint</vt:lpstr>
      <vt:lpstr>Заключение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Евгений Симонов</dc:creator>
  <cp:lastModifiedBy>Евгений Симонов</cp:lastModifiedBy>
  <cp:revision>148</cp:revision>
  <dcterms:created xsi:type="dcterms:W3CDTF">2022-06-01T18:30:35Z</dcterms:created>
  <dcterms:modified xsi:type="dcterms:W3CDTF">2024-05-22T08:46:19Z</dcterms:modified>
</cp:coreProperties>
</file>