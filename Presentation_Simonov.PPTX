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72" r:id="rId13"/>
    <p:sldId id="265" r:id="rId14"/>
    <p:sldId id="273" r:id="rId15"/>
    <p:sldId id="267" r:id="rId16"/>
    <p:sldId id="268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34" y="8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BCED4-4D6E-47E4-9A58-EF37E727E972}" type="datetimeFigureOut">
              <a:rPr lang="ru-RU" smtClean="0"/>
              <a:pPr/>
              <a:t>21.05.2024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96A37-7290-4742-9FC5-8256E19FBB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46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296A37-7290-4742-9FC5-8256E19FBB90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0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296A37-7290-4742-9FC5-8256E19FBB90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04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8CEC-8B7A-443D-B42A-BFB42A1487AF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46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62" y="222738"/>
            <a:ext cx="7543801" cy="860155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161" y="1188772"/>
            <a:ext cx="7543801" cy="4930673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F7CC-707A-4B28-BA90-A3B6191B6329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08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43FA-49D7-480B-922E-CCF7DECB4256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66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4CF2-CAA8-43A5-B3BF-4F44E4945C0A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57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9A9C0-1088-4768-B1CF-2B10AE3A6C8F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69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CB9A-716C-404D-9E32-F8E6CD683554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0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E07C0-90BD-480F-B517-1963A08BF60B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368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E644CFED-A97B-49F8-A449-25D89C9506D8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57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36F6-BB18-4B1F-B1C4-BA1FEAE9D6C7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21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2868-71E6-4294-8835-B8B75A482DFB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26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85EC-6D1B-4508-A049-AD1800FFF879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4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390" y="213149"/>
            <a:ext cx="7543800" cy="8561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187232"/>
            <a:ext cx="7543801" cy="46818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C10A20D-6864-42A6-9734-5AD0C27E309F}" type="datetime1">
              <a:rPr lang="ru-RU" smtClean="0"/>
              <a:pPr/>
              <a:t>21.05.2024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6D1207-A211-430D-84A8-323056D4650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68680" y="112824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47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060" y="1944517"/>
            <a:ext cx="8366760" cy="2285346"/>
          </a:xfrm>
        </p:spPr>
        <p:txBody>
          <a:bodyPr>
            <a:noAutofit/>
          </a:bodyPr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Тема</a:t>
            </a:r>
            <a:r>
              <a:rPr lang="en-US" sz="4000" b="1" smtClean="0">
                <a:solidFill>
                  <a:schemeClr val="tx1"/>
                </a:solidFill>
              </a:rPr>
              <a:t>: </a:t>
            </a:r>
            <a:r>
              <a:rPr lang="en-US" sz="5400" b="1" smtClean="0">
                <a:solidFill>
                  <a:schemeClr val="tx1"/>
                </a:solidFill>
              </a:rPr>
              <a:t/>
            </a:r>
            <a:br>
              <a:rPr lang="en-US" sz="5400" b="1" smtClean="0">
                <a:solidFill>
                  <a:schemeClr val="tx1"/>
                </a:solidFill>
              </a:rPr>
            </a:br>
            <a:r>
              <a:rPr lang="ru-RU" sz="3200" smtClean="0"/>
              <a:t>Эффективность адаптивной модуляции</a:t>
            </a:r>
            <a:br>
              <a:rPr lang="ru-RU" sz="3200" smtClean="0"/>
            </a:br>
            <a:r>
              <a:rPr lang="ru-RU" sz="3200" smtClean="0"/>
              <a:t>в системах мобильной связи при передаче</a:t>
            </a:r>
            <a:br>
              <a:rPr lang="ru-RU" sz="3200" smtClean="0"/>
            </a:br>
            <a:r>
              <a:rPr lang="ru-RU" sz="3200" smtClean="0"/>
              <a:t>информации в многолучевых каналах</a:t>
            </a:r>
            <a:endParaRPr lang="ru-RU" sz="32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84761" y="4381340"/>
            <a:ext cx="7543800" cy="1143000"/>
          </a:xfrm>
        </p:spPr>
        <p:txBody>
          <a:bodyPr>
            <a:normAutofit fontScale="92500"/>
          </a:bodyPr>
          <a:lstStyle/>
          <a:p>
            <a:r>
              <a:rPr lang="ru-RU" cap="none" dirty="0" smtClean="0">
                <a:solidFill>
                  <a:schemeClr val="tx1"/>
                </a:solidFill>
                <a:latin typeface="+mn-lt"/>
              </a:rPr>
              <a:t>Выполнил</a:t>
            </a:r>
            <a:r>
              <a:rPr lang="en-US" cap="none" dirty="0" smtClean="0">
                <a:solidFill>
                  <a:schemeClr val="tx1"/>
                </a:solidFill>
                <a:latin typeface="+mn-lt"/>
              </a:rPr>
              <a:t>: </a:t>
            </a:r>
            <a:r>
              <a:rPr lang="ru-RU" cap="none" dirty="0" smtClean="0">
                <a:solidFill>
                  <a:schemeClr val="tx1"/>
                </a:solidFill>
                <a:latin typeface="+mn-lt"/>
              </a:rPr>
              <a:t>студент</a:t>
            </a:r>
            <a:r>
              <a:rPr lang="en-US" cap="none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ru-RU" cap="none" dirty="0" smtClean="0">
                <a:solidFill>
                  <a:schemeClr val="tx1"/>
                </a:solidFill>
                <a:latin typeface="+mn-lt"/>
              </a:rPr>
              <a:t>Симонов Е.Е.</a:t>
            </a:r>
          </a:p>
          <a:p>
            <a:r>
              <a:rPr lang="ru-RU" cap="none" dirty="0" smtClean="0">
                <a:solidFill>
                  <a:schemeClr val="tx1"/>
                </a:solidFill>
                <a:latin typeface="+mn-lt"/>
              </a:rPr>
              <a:t>Научный руководитель</a:t>
            </a:r>
            <a:r>
              <a:rPr lang="en-US" cap="none" dirty="0" smtClean="0">
                <a:solidFill>
                  <a:schemeClr val="tx1"/>
                </a:solidFill>
                <a:latin typeface="+mn-lt"/>
              </a:rPr>
              <a:t>:</a:t>
            </a:r>
            <a:r>
              <a:rPr lang="ru-RU" cap="none" dirty="0" smtClean="0">
                <a:solidFill>
                  <a:schemeClr val="tx1"/>
                </a:solidFill>
                <a:latin typeface="+mn-lt"/>
              </a:rPr>
              <a:t> профессор Мальцев А.А.</a:t>
            </a:r>
            <a:endParaRPr lang="ru-RU" cap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761" y="449184"/>
            <a:ext cx="70713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ННГУ имени Н.И. </a:t>
            </a:r>
            <a:r>
              <a:rPr lang="ru-RU" sz="4400" dirty="0" smtClean="0"/>
              <a:t>Лобачевского</a:t>
            </a:r>
            <a:endParaRPr lang="ru-RU" sz="3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120" y="449184"/>
            <a:ext cx="946859" cy="9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8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879" y="316794"/>
            <a:ext cx="7543800" cy="836982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Цель работы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7879" y="1153776"/>
            <a:ext cx="7543801" cy="4983977"/>
          </a:xfrm>
        </p:spPr>
        <p:txBody>
          <a:bodyPr>
            <a:normAutofit fontScale="32500" lnSpcReduction="20000"/>
          </a:bodyPr>
          <a:lstStyle/>
          <a:p>
            <a:pPr marL="201168" lvl="1" indent="0">
              <a:buNone/>
            </a:pPr>
            <a:r>
              <a:rPr lang="ru-RU" dirty="0"/>
              <a:t>	</a:t>
            </a:r>
            <a:endParaRPr lang="ru-RU" sz="8000" dirty="0" smtClean="0">
              <a:solidFill>
                <a:schemeClr val="tx1"/>
              </a:solidFill>
            </a:endParaRPr>
          </a:p>
          <a:p>
            <a:pPr marL="201168" lvl="1" indent="0">
              <a:lnSpc>
                <a:spcPct val="120000"/>
              </a:lnSpc>
              <a:buNone/>
            </a:pPr>
            <a:r>
              <a:rPr lang="ru-RU" sz="6400" dirty="0" smtClean="0">
                <a:solidFill>
                  <a:schemeClr val="tx1"/>
                </a:solidFill>
              </a:rPr>
              <a:t>	</a:t>
            </a:r>
            <a:r>
              <a:rPr lang="ru-RU" sz="9600" dirty="0">
                <a:solidFill>
                  <a:schemeClr val="tx1"/>
                </a:solidFill>
              </a:rPr>
              <a:t>Целью настоящей работы является исследование эффективности адаптивной модуляции в условиях многолучевого канала с </a:t>
            </a:r>
            <a:r>
              <a:rPr lang="ru-RU" sz="9600" dirty="0" err="1">
                <a:solidFill>
                  <a:schemeClr val="tx1"/>
                </a:solidFill>
              </a:rPr>
              <a:t>релеевскими</a:t>
            </a:r>
            <a:r>
              <a:rPr lang="ru-RU" sz="9600" dirty="0">
                <a:solidFill>
                  <a:schemeClr val="tx1"/>
                </a:solidFill>
              </a:rPr>
              <a:t> замираниями сигналов («городской» канал</a:t>
            </a:r>
            <a:r>
              <a:rPr lang="ru-RU" sz="9600" dirty="0" smtClean="0">
                <a:solidFill>
                  <a:schemeClr val="tx1"/>
                </a:solidFill>
              </a:rPr>
              <a:t>). </a:t>
            </a:r>
          </a:p>
          <a:p>
            <a:pPr marL="201168" lvl="1" indent="0">
              <a:lnSpc>
                <a:spcPct val="120000"/>
              </a:lnSpc>
              <a:buNone/>
            </a:pPr>
            <a:r>
              <a:rPr lang="ru-RU" sz="9600" dirty="0" smtClean="0">
                <a:solidFill>
                  <a:schemeClr val="tx1"/>
                </a:solidFill>
              </a:rPr>
              <a:t>	Сравнение систем с постоянной и адаптивной модуляцией</a:t>
            </a:r>
            <a:r>
              <a:rPr lang="en-US" sz="9600" smtClean="0">
                <a:solidFill>
                  <a:schemeClr val="tx1"/>
                </a:solidFill>
              </a:rPr>
              <a:t>, </a:t>
            </a:r>
            <a:r>
              <a:rPr lang="ru-RU" sz="9600" smtClean="0">
                <a:solidFill>
                  <a:schemeClr val="tx1"/>
                </a:solidFill>
              </a:rPr>
              <a:t>используя следующие метрики битовая </a:t>
            </a:r>
            <a:r>
              <a:rPr lang="ru-RU" sz="9600" dirty="0" smtClean="0">
                <a:solidFill>
                  <a:schemeClr val="tx1"/>
                </a:solidFill>
              </a:rPr>
              <a:t>и блоковая ошибк</a:t>
            </a:r>
            <a:r>
              <a:rPr lang="ru-RU" sz="9600" dirty="0">
                <a:solidFill>
                  <a:schemeClr val="tx1"/>
                </a:solidFill>
              </a:rPr>
              <a:t>и</a:t>
            </a:r>
            <a:r>
              <a:rPr lang="en-US" sz="9600" dirty="0" smtClean="0">
                <a:solidFill>
                  <a:schemeClr val="tx1"/>
                </a:solidFill>
              </a:rPr>
              <a:t>,</a:t>
            </a:r>
            <a:r>
              <a:rPr lang="ru-RU" sz="9600" dirty="0" smtClean="0">
                <a:solidFill>
                  <a:schemeClr val="tx1"/>
                </a:solidFill>
              </a:rPr>
              <a:t> а также пропускная способность.  </a:t>
            </a:r>
            <a:endParaRPr lang="ru-RU" dirty="0" smtClean="0"/>
          </a:p>
          <a:p>
            <a:pPr marL="201168" lvl="1" indent="0">
              <a:buNone/>
            </a:pPr>
            <a:r>
              <a:rPr lang="ru-RU" sz="2000" dirty="0"/>
              <a:t>	</a:t>
            </a:r>
            <a:endParaRPr lang="en-US" sz="2000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2</a:t>
            </a:fld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35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5763" y="388307"/>
            <a:ext cx="7603599" cy="775482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Задачи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5763" y="1279832"/>
            <a:ext cx="7829067" cy="5086699"/>
          </a:xfrm>
        </p:spPr>
        <p:txBody>
          <a:bodyPr>
            <a:normAutofit fontScale="77500" lnSpcReduction="20000"/>
          </a:bodyPr>
          <a:lstStyle/>
          <a:p>
            <a:pPr marL="436626" lvl="1" indent="-285750">
              <a:lnSpc>
                <a:spcPct val="150000"/>
              </a:lnSpc>
            </a:pPr>
            <a:r>
              <a:rPr lang="ru-RU" sz="3100" dirty="0" smtClean="0">
                <a:solidFill>
                  <a:schemeClr val="tx1"/>
                </a:solidFill>
              </a:rPr>
              <a:t>В среде </a:t>
            </a:r>
            <a:r>
              <a:rPr lang="en-US" sz="3100" dirty="0" err="1" smtClean="0">
                <a:solidFill>
                  <a:schemeClr val="tx1"/>
                </a:solidFill>
              </a:rPr>
              <a:t>Matlab</a:t>
            </a:r>
            <a:r>
              <a:rPr lang="ru-RU" sz="3100" dirty="0" smtClean="0">
                <a:solidFill>
                  <a:schemeClr val="tx1"/>
                </a:solidFill>
              </a:rPr>
              <a:t> реализовать многолучевой канал используя модель Кларка</a:t>
            </a:r>
          </a:p>
          <a:p>
            <a:pPr marL="436626" lvl="1" indent="-285750">
              <a:lnSpc>
                <a:spcPct val="150000"/>
              </a:lnSpc>
            </a:pPr>
            <a:r>
              <a:rPr lang="ru-RU" sz="3100" dirty="0" smtClean="0">
                <a:solidFill>
                  <a:schemeClr val="tx1"/>
                </a:solidFill>
              </a:rPr>
              <a:t>Построить симулятор</a:t>
            </a:r>
            <a:r>
              <a:rPr lang="en-US" sz="3100" dirty="0" smtClean="0">
                <a:solidFill>
                  <a:schemeClr val="tx1"/>
                </a:solidFill>
              </a:rPr>
              <a:t>,</a:t>
            </a:r>
            <a:r>
              <a:rPr lang="ru-RU" sz="3100" dirty="0" smtClean="0">
                <a:solidFill>
                  <a:schemeClr val="tx1"/>
                </a:solidFill>
              </a:rPr>
              <a:t> включающий в себя ряд модуляций</a:t>
            </a:r>
            <a:r>
              <a:rPr lang="en-US" sz="3100" dirty="0" smtClean="0">
                <a:solidFill>
                  <a:schemeClr val="tx1"/>
                </a:solidFill>
              </a:rPr>
              <a:t>, </a:t>
            </a:r>
            <a:r>
              <a:rPr lang="ru-RU" sz="3100" dirty="0" smtClean="0">
                <a:solidFill>
                  <a:schemeClr val="tx1"/>
                </a:solidFill>
              </a:rPr>
              <a:t>с возможностью их переключения в зависимости от состояния канала</a:t>
            </a:r>
            <a:r>
              <a:rPr lang="en-US" sz="3100" dirty="0" smtClean="0">
                <a:solidFill>
                  <a:schemeClr val="tx1"/>
                </a:solidFill>
              </a:rPr>
              <a:t>, </a:t>
            </a:r>
            <a:r>
              <a:rPr lang="ru-RU" sz="3100" dirty="0" smtClean="0">
                <a:solidFill>
                  <a:schemeClr val="tx1"/>
                </a:solidFill>
              </a:rPr>
              <a:t>учесть задержки на обратную связь</a:t>
            </a:r>
            <a:r>
              <a:rPr lang="en-US" sz="3100" dirty="0" smtClean="0">
                <a:solidFill>
                  <a:schemeClr val="tx1"/>
                </a:solidFill>
              </a:rPr>
              <a:t>,</a:t>
            </a:r>
            <a:r>
              <a:rPr lang="ru-RU" sz="3100" dirty="0" smtClean="0">
                <a:solidFill>
                  <a:schemeClr val="tx1"/>
                </a:solidFill>
              </a:rPr>
              <a:t> а так-же возможные погрешности при оценке канала.</a:t>
            </a:r>
          </a:p>
          <a:p>
            <a:pPr marL="436626" lvl="1" indent="-285750">
              <a:lnSpc>
                <a:spcPct val="150000"/>
              </a:lnSpc>
            </a:pPr>
            <a:r>
              <a:rPr lang="ru-RU" sz="3100" dirty="0" smtClean="0">
                <a:solidFill>
                  <a:schemeClr val="tx1"/>
                </a:solidFill>
              </a:rPr>
              <a:t>Используя созданную модель получить  метрики для исследования эффективности адаптивной модуляции</a:t>
            </a:r>
            <a:r>
              <a:rPr lang="en-US" sz="3100" dirty="0">
                <a:solidFill>
                  <a:schemeClr val="tx1"/>
                </a:solidFill>
              </a:rPr>
              <a:t> </a:t>
            </a:r>
            <a:r>
              <a:rPr lang="ru-RU" sz="3100" dirty="0" err="1" smtClean="0">
                <a:solidFill>
                  <a:schemeClr val="tx1"/>
                </a:solidFill>
              </a:rPr>
              <a:t>т.е</a:t>
            </a:r>
            <a:r>
              <a:rPr lang="ru-RU" sz="3100" dirty="0" smtClean="0">
                <a:solidFill>
                  <a:schemeClr val="tx1"/>
                </a:solidFill>
              </a:rPr>
              <a:t> </a:t>
            </a:r>
            <a:r>
              <a:rPr lang="en-US" sz="3100" dirty="0" smtClean="0">
                <a:solidFill>
                  <a:schemeClr val="tx1"/>
                </a:solidFill>
              </a:rPr>
              <a:t>BER, BLER </a:t>
            </a:r>
            <a:r>
              <a:rPr lang="ru-RU" sz="3100" smtClean="0">
                <a:solidFill>
                  <a:schemeClr val="tx1"/>
                </a:solidFill>
              </a:rPr>
              <a:t>и </a:t>
            </a:r>
            <a:r>
              <a:rPr lang="en-US" sz="3100">
                <a:solidFill>
                  <a:schemeClr val="tx1"/>
                </a:solidFill>
              </a:rPr>
              <a:t>t</a:t>
            </a:r>
            <a:r>
              <a:rPr lang="en-US" sz="3100" smtClean="0">
                <a:solidFill>
                  <a:schemeClr val="tx1"/>
                </a:solidFill>
              </a:rPr>
              <a:t>hroughput</a:t>
            </a:r>
            <a:endParaRPr lang="ru-RU" sz="3100" dirty="0" smtClean="0">
              <a:solidFill>
                <a:schemeClr val="tx1"/>
              </a:solidFill>
            </a:endParaRPr>
          </a:p>
          <a:p>
            <a:pPr marL="436626" lvl="1" indent="-28575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3</a:t>
            </a:fld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62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59" y="175364"/>
            <a:ext cx="7543800" cy="1031008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Модуляция и демодуляция</a:t>
            </a:r>
            <a:endParaRPr lang="ru-RU" sz="44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4</a:t>
            </a:fld>
            <a:endParaRPr lang="ru-RU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Объект 9"/>
              <p:cNvSpPr>
                <a:spLocks noGrp="1"/>
              </p:cNvSpPr>
              <p:nvPr>
                <p:ph idx="1"/>
              </p:nvPr>
            </p:nvSpPr>
            <p:spPr>
              <a:xfrm>
                <a:off x="538560" y="1240614"/>
                <a:ext cx="7543801" cy="49306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 smtClean="0"/>
                  <a:t>   Модуляции</a:t>
                </a:r>
                <a:r>
                  <a:rPr lang="en-US" dirty="0" smtClean="0"/>
                  <a:t>,</a:t>
                </a:r>
                <a:r>
                  <a:rPr lang="ru-RU" dirty="0" smtClean="0"/>
                  <a:t> поддерживаемые моделью</a:t>
                </a:r>
                <a:r>
                  <a:rPr lang="en-US" dirty="0" smtClean="0"/>
                  <a:t>: </a:t>
                </a:r>
                <a:r>
                  <a:rPr lang="ru-RU" dirty="0" smtClean="0"/>
                  <a:t>2-ФМ</a:t>
                </a:r>
                <a:r>
                  <a:rPr lang="en-US" dirty="0" smtClean="0"/>
                  <a:t>, 4-</a:t>
                </a:r>
                <a:r>
                  <a:rPr lang="ru-RU" dirty="0" smtClean="0"/>
                  <a:t>ФМ</a:t>
                </a:r>
                <a:r>
                  <a:rPr lang="en-US" dirty="0" smtClean="0"/>
                  <a:t>, 8-</a:t>
                </a:r>
                <a:r>
                  <a:rPr lang="ru-RU" dirty="0" smtClean="0"/>
                  <a:t>ФМ</a:t>
                </a:r>
                <a:r>
                  <a:rPr lang="en-US" dirty="0" smtClean="0"/>
                  <a:t>, 16-</a:t>
                </a:r>
                <a:r>
                  <a:rPr lang="ru-RU" dirty="0" smtClean="0"/>
                  <a:t>КАМ</a:t>
                </a:r>
                <a:r>
                  <a:rPr lang="en-US" dirty="0" smtClean="0"/>
                  <a:t>, 64-К</a:t>
                </a:r>
                <a:r>
                  <a:rPr lang="ru-RU" dirty="0" smtClean="0"/>
                  <a:t>АМ. </a:t>
                </a:r>
              </a:p>
              <a:p>
                <a:pPr marL="0" indent="0">
                  <a:buNone/>
                </a:pPr>
                <a:r>
                  <a:rPr lang="ru-RU" dirty="0" smtClean="0"/>
                  <a:t>   </a:t>
                </a:r>
                <a:r>
                  <a:rPr lang="ru-RU" sz="2000" dirty="0" smtClean="0"/>
                  <a:t>По принятым комплексным символам</a:t>
                </a:r>
                <a:r>
                  <a:rPr lang="en-US" sz="2000" dirty="0" smtClean="0"/>
                  <a:t>,</a:t>
                </a:r>
                <a:r>
                  <a:rPr lang="ru-RU" sz="2000" dirty="0" smtClean="0"/>
                  <a:t> на каждый бит считаются логарифм отношения вероятностей</a:t>
                </a:r>
                <a:r>
                  <a:rPr lang="en-US" sz="2000" dirty="0" smtClean="0"/>
                  <a:t>: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i="1"/>
                        <m:t>𝐿𝐿𝑅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𝑐</m:t>
                              </m:r>
                            </m:e>
                            <m:sub>
                              <m:r>
                                <a:rPr lang="ru-RU" i="1"/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i="1"/>
                        <m:t>=</m:t>
                      </m:r>
                      <m:r>
                        <a:rPr lang="ru-RU" i="1"/>
                        <m:t>𝑙𝑜𝑔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/>
                          </m:ctrlPr>
                        </m:dPr>
                        <m:e>
                          <m:f>
                            <m:fPr>
                              <m:ctrlPr>
                                <a:rPr lang="ru-RU" i="1"/>
                              </m:ctrlPr>
                            </m:fPr>
                            <m:num>
                              <m:r>
                                <a:rPr lang="ru-RU" i="1"/>
                                <m:t>𝑃</m:t>
                              </m:r>
                              <m:r>
                                <a:rPr lang="ru-RU" i="1"/>
                                <m:t>(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ru-RU" i="1"/>
                                    <m:t>𝑐</m:t>
                                  </m:r>
                                </m:e>
                                <m:sub>
                                  <m:r>
                                    <a:rPr lang="ru-RU" i="1"/>
                                    <m:t>𝑖</m:t>
                                  </m:r>
                                </m:sub>
                              </m:sSub>
                              <m:r>
                                <a:rPr lang="ru-RU" i="1"/>
                                <m:t>=1|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ru-RU" i="1"/>
                                    <m:t>𝑟</m:t>
                                  </m:r>
                                </m:e>
                                <m:sub>
                                  <m:r>
                                    <a:rPr lang="ru-RU" i="1"/>
                                    <m:t>𝑖</m:t>
                                  </m:r>
                                </m:sub>
                              </m:sSub>
                              <m:r>
                                <a:rPr lang="ru-RU" i="1"/>
                                <m:t>)</m:t>
                              </m:r>
                            </m:num>
                            <m:den>
                              <m:r>
                                <a:rPr lang="ru-RU" i="1"/>
                                <m:t>𝑃</m:t>
                              </m:r>
                              <m:r>
                                <a:rPr lang="ru-RU" i="1"/>
                                <m:t>(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ru-RU" i="1"/>
                                    <m:t>𝑐</m:t>
                                  </m:r>
                                </m:e>
                                <m:sub>
                                  <m:r>
                                    <a:rPr lang="ru-RU" i="1"/>
                                    <m:t>𝑖</m:t>
                                  </m:r>
                                </m:sub>
                              </m:sSub>
                              <m:r>
                                <a:rPr lang="ru-RU" i="1"/>
                                <m:t>=0|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r>
                                    <a:rPr lang="ru-RU" i="1"/>
                                    <m:t>𝑟</m:t>
                                  </m:r>
                                </m:e>
                                <m:sub>
                                  <m:r>
                                    <a:rPr lang="ru-RU" i="1"/>
                                    <m:t>𝑖</m:t>
                                  </m:r>
                                </m:sub>
                              </m:sSub>
                              <m:r>
                                <a:rPr lang="ru-RU" i="1"/>
                                <m:t>)</m:t>
                              </m:r>
                            </m:den>
                          </m:f>
                        </m:e>
                      </m:d>
                      <m:r>
                        <a:rPr lang="ru-RU" i="1"/>
                        <m:t>=</m:t>
                      </m:r>
                      <m:r>
                        <a:rPr lang="ru-RU" i="1"/>
                        <m:t>𝑙𝑜𝑔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/>
                          </m:ctrlPr>
                        </m:dPr>
                        <m:e>
                          <m:f>
                            <m:fPr>
                              <m:ctrlPr>
                                <a:rPr lang="ru-RU" i="1"/>
                              </m:ctrlPr>
                            </m:fPr>
                            <m:num>
                              <m:r>
                                <a:rPr lang="ru-RU" i="1"/>
                                <m:t>𝑃</m:t>
                              </m:r>
                              <m:r>
                                <a:rPr lang="ru-RU" i="1"/>
                                <m:t>(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ru-RU" i="1"/>
                                      </m:ctrlPr>
                                    </m:sSubPr>
                                    <m:e>
                                      <m:r>
                                        <a:rPr lang="ru-RU" i="1"/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ru-RU" i="1"/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1"/>
                                    <m:t>|</m:t>
                                  </m:r>
                                  <m:r>
                                    <a:rPr lang="ru-RU" i="1"/>
                                    <m:t>𝑐</m:t>
                                  </m:r>
                                </m:e>
                                <m:sub>
                                  <m:r>
                                    <a:rPr lang="ru-RU" i="1"/>
                                    <m:t>𝑖</m:t>
                                  </m:r>
                                </m:sub>
                              </m:sSub>
                              <m:r>
                                <a:rPr lang="ru-RU" i="1"/>
                                <m:t>=1)</m:t>
                              </m:r>
                            </m:num>
                            <m:den>
                              <m:r>
                                <a:rPr lang="ru-RU" i="1"/>
                                <m:t>𝑃</m:t>
                              </m:r>
                              <m:r>
                                <a:rPr lang="ru-RU" i="1"/>
                                <m:t>(</m:t>
                              </m:r>
                              <m:sSub>
                                <m:sSubPr>
                                  <m:ctrlPr>
                                    <a:rPr lang="ru-RU" i="1"/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ru-RU" i="1"/>
                                      </m:ctrlPr>
                                    </m:sSubPr>
                                    <m:e>
                                      <m:r>
                                        <a:rPr lang="ru-RU" i="1"/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ru-RU" i="1"/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1"/>
                                    <m:t>|</m:t>
                                  </m:r>
                                  <m:r>
                                    <a:rPr lang="ru-RU" i="1"/>
                                    <m:t>𝑐</m:t>
                                  </m:r>
                                </m:e>
                                <m:sub>
                                  <m:r>
                                    <a:rPr lang="ru-RU" i="1"/>
                                    <m:t>𝑖</m:t>
                                  </m:r>
                                </m:sub>
                              </m:sSub>
                              <m:r>
                                <a:rPr lang="ru-RU" i="1"/>
                                <m:t>=0)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 smtClean="0"/>
              </a:p>
              <a:p>
                <a:pPr marL="201168" lvl="1" indent="0">
                  <a:buNone/>
                </a:pPr>
                <a:endParaRPr lang="ru-RU" dirty="0" smtClean="0"/>
              </a:p>
              <a:p>
                <a:pPr marL="201168" lvl="1" indent="0">
                  <a:buNone/>
                </a:pPr>
                <a:r>
                  <a:rPr lang="ru-RU" sz="2000" dirty="0" smtClean="0"/>
                  <a:t>  Используя правил о Байеса и аппроксимацию 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/>
                      <m:t>𝑙𝑜𝑔</m:t>
                    </m:r>
                    <m:d>
                      <m:dPr>
                        <m:begChr m:val="{"/>
                        <m:endChr m:val="}"/>
                        <m:ctrlPr>
                          <a:rPr lang="ru-RU" sz="2000" i="1"/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ru-RU" sz="2000" i="1"/>
                            </m:ctrlPr>
                          </m:naryPr>
                          <m:sub>
                            <m:r>
                              <a:rPr lang="en-US" sz="2000" i="1"/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ru-RU" sz="2000" i="1"/>
                                </m:ctrlPr>
                              </m:sSubPr>
                              <m:e>
                                <m:r>
                                  <a:rPr lang="en-US" sz="2000" i="1"/>
                                  <m:t>𝑎</m:t>
                                </m:r>
                              </m:e>
                              <m:sub>
                                <m:r>
                                  <a:rPr lang="en-US" sz="2000" i="1"/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ru-RU" sz="2000" i="1"/>
                      <m:t>≈</m:t>
                    </m:r>
                    <m:r>
                      <a:rPr lang="en-US" sz="2000" i="1"/>
                      <m:t>𝑚𝑎𝑥</m:t>
                    </m:r>
                    <m:r>
                      <a:rPr lang="ru-RU" sz="2000" i="1"/>
                      <m:t>(</m:t>
                    </m:r>
                    <m:r>
                      <a:rPr lang="en-US" sz="2000" i="1"/>
                      <m:t>𝑙𝑜𝑔</m:t>
                    </m:r>
                    <m:r>
                      <a:rPr lang="ru-RU" sz="2000" i="1"/>
                      <m:t>(</m:t>
                    </m:r>
                    <m:sSub>
                      <m:sSubPr>
                        <m:ctrlPr>
                          <a:rPr lang="ru-RU" sz="2000" i="1"/>
                        </m:ctrlPr>
                      </m:sSubPr>
                      <m:e>
                        <m:r>
                          <a:rPr lang="en-US" sz="2000" i="1"/>
                          <m:t>𝑎</m:t>
                        </m:r>
                      </m:e>
                      <m:sub>
                        <m:r>
                          <a:rPr lang="en-US" sz="2000" i="1"/>
                          <m:t>𝑖</m:t>
                        </m:r>
                      </m:sub>
                    </m:sSub>
                    <m:r>
                      <a:rPr lang="ru-RU" sz="2000" i="1"/>
                      <m:t>))</m:t>
                    </m:r>
                  </m:oMath>
                </a14:m>
                <a:r>
                  <a:rPr lang="ru-RU" sz="2000" dirty="0"/>
                  <a:t>,</a:t>
                </a:r>
                <a:r>
                  <a:rPr lang="ru-RU" sz="2000" dirty="0" smtClean="0"/>
                  <a:t> имеем</a:t>
                </a:r>
              </a:p>
              <a:p>
                <a:pPr marL="201168" lvl="1" indent="0">
                  <a:buNone/>
                </a:pPr>
                <a:r>
                  <a:rPr lang="ru-RU" sz="2000" dirty="0" smtClean="0"/>
                  <a:t>общий вид выражения для подсчета </a:t>
                </a:r>
                <a:r>
                  <a:rPr lang="en-US" sz="2000" dirty="0" smtClean="0"/>
                  <a:t>LLR:</a:t>
                </a:r>
                <a:endParaRPr lang="ru-RU" sz="2000" dirty="0" smtClean="0"/>
              </a:p>
              <a:p>
                <a:pPr marL="201168" lvl="1" indent="0">
                  <a:buNone/>
                </a:pPr>
                <a:endParaRPr lang="en-US" dirty="0" smtClean="0"/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i="1"/>
                        <m:t>𝐿𝐿𝑅</m:t>
                      </m:r>
                      <m:d>
                        <m:dPr>
                          <m:ctrlPr>
                            <a:rPr lang="ru-RU" i="1"/>
                          </m:ctrlPr>
                        </m:dPr>
                        <m:e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𝑐</m:t>
                              </m:r>
                            </m:e>
                            <m:sub>
                              <m:r>
                                <a:rPr lang="ru-RU" i="1"/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i="1"/>
                        <m:t>=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𝑚𝑎𝑥</m:t>
                          </m:r>
                        </m:e>
                        <m:sub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r>
                                <a:rPr lang="ru-RU" i="1"/>
                                <m:t>𝑋</m:t>
                              </m:r>
                            </m:e>
                            <m:sup>
                              <m:r>
                                <a:rPr lang="ru-RU" i="1"/>
                                <m:t>(1)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ru-RU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/>
                            <m:t>log</m:t>
                          </m:r>
                          <m:r>
                            <a:rPr lang="ru-RU" i="1"/>
                            <m:t>𝑃</m:t>
                          </m:r>
                          <m:r>
                            <a:rPr lang="ru-RU" i="1"/>
                            <m:t>(</m:t>
                          </m:r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𝑟</m:t>
                              </m:r>
                            </m:e>
                            <m:sub>
                              <m:r>
                                <a:rPr lang="ru-RU" i="1"/>
                                <m:t>𝑖</m:t>
                              </m:r>
                            </m:sub>
                          </m:sSub>
                          <m:r>
                            <a:rPr lang="ru-RU" i="1"/>
                            <m:t>|</m:t>
                          </m:r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𝑥</m:t>
                              </m:r>
                            </m:e>
                            <m:sub>
                              <m:r>
                                <a:rPr lang="ru-RU" i="1"/>
                                <m:t>𝑖</m:t>
                              </m:r>
                            </m:sub>
                          </m:sSub>
                          <m:r>
                            <a:rPr lang="ru-RU" i="1"/>
                            <m:t>)</m:t>
                          </m:r>
                        </m:e>
                      </m:d>
                      <m:r>
                        <a:rPr lang="ru-RU" i="1"/>
                        <m:t>− 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𝑚𝑎𝑥</m:t>
                          </m:r>
                        </m:e>
                        <m:sub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r>
                                <a:rPr lang="ru-RU" i="1"/>
                                <m:t>𝑋</m:t>
                              </m:r>
                            </m:e>
                            <m:sup>
                              <m:r>
                                <a:rPr lang="ru-RU" i="1"/>
                                <m:t>(0)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ru-RU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/>
                            <m:t>log</m:t>
                          </m:r>
                          <m:r>
                            <a:rPr lang="ru-RU" i="1"/>
                            <m:t>𝑃</m:t>
                          </m:r>
                          <m:r>
                            <a:rPr lang="ru-RU" i="1"/>
                            <m:t>(</m:t>
                          </m:r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𝑟</m:t>
                              </m:r>
                            </m:e>
                            <m:sub>
                              <m:r>
                                <a:rPr lang="ru-RU" i="1"/>
                                <m:t>𝑖</m:t>
                              </m:r>
                            </m:sub>
                          </m:sSub>
                          <m:r>
                            <a:rPr lang="ru-RU" i="1"/>
                            <m:t>|</m:t>
                          </m:r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𝑥</m:t>
                              </m:r>
                            </m:e>
                            <m:sub>
                              <m:r>
                                <a:rPr lang="ru-RU" i="1"/>
                                <m:t>𝑖</m:t>
                              </m:r>
                            </m:sub>
                          </m:sSub>
                          <m:r>
                            <a:rPr lang="ru-RU" i="1"/>
                            <m:t>)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201168" lvl="1" indent="0">
                  <a:buNone/>
                </a:pPr>
                <a:endParaRPr lang="en-US" dirty="0" smtClean="0"/>
              </a:p>
              <a:p>
                <a:pPr marL="201168" lvl="1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10" name="Объект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8560" y="1240614"/>
                <a:ext cx="7543801" cy="4930673"/>
              </a:xfrm>
              <a:blipFill rotWithShape="0">
                <a:blip r:embed="rId2"/>
                <a:stretch>
                  <a:fillRect l="-2019" t="-13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95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8197" y="418454"/>
            <a:ext cx="7543800" cy="740222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Модель </a:t>
            </a:r>
            <a:r>
              <a:rPr lang="ru-RU" sz="4400" dirty="0" smtClean="0">
                <a:solidFill>
                  <a:schemeClr val="tx1"/>
                </a:solidFill>
              </a:rPr>
              <a:t>Кларка </a:t>
            </a:r>
            <a:endParaRPr lang="ru-RU" sz="4400" dirty="0">
              <a:solidFill>
                <a:schemeClr val="tx1"/>
              </a:solidFill>
            </a:endParaRPr>
          </a:p>
        </p:txBody>
      </p:sp>
      <p:pic>
        <p:nvPicPr>
          <p:cNvPr id="4" name="Объект 3" descr="Рисунок2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292" y="1669643"/>
            <a:ext cx="3676881" cy="19912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5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62" y="4864744"/>
            <a:ext cx="5690587" cy="43376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7" y="5460417"/>
            <a:ext cx="4402618" cy="3001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818197" y="3939197"/>
                <a:ext cx="7591166" cy="91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nary>
                        <m:naryPr>
                          <m:chr m:val="∑"/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πn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lΔt</m:t>
                              </m:r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n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−0.5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N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7" y="3939197"/>
                <a:ext cx="7591166" cy="9106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24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7200" y="417600"/>
            <a:ext cx="7543801" cy="741600"/>
          </a:xfrm>
        </p:spPr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Модель </a:t>
            </a:r>
            <a:r>
              <a:rPr lang="ru-RU" sz="4400" dirty="0" smtClean="0">
                <a:solidFill>
                  <a:schemeClr val="tx1"/>
                </a:solidFill>
              </a:rPr>
              <a:t>Кларка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6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262" y="1799718"/>
            <a:ext cx="5019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7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58" y="373606"/>
            <a:ext cx="7543801" cy="860155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tx1"/>
                </a:solidFill>
              </a:rPr>
              <a:t>Статистические характеристики модели Кларка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7</a:t>
            </a:fld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8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59" y="374400"/>
            <a:ext cx="7543801" cy="860155"/>
          </a:xfrm>
        </p:spPr>
        <p:txBody>
          <a:bodyPr>
            <a:normAutofit fontScale="90000"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Вероятность битовой ошибки в </a:t>
            </a:r>
            <a:r>
              <a:rPr lang="ru-RU" sz="4400" dirty="0" err="1" smtClean="0">
                <a:solidFill>
                  <a:schemeClr val="tx1"/>
                </a:solidFill>
              </a:rPr>
              <a:t>релеевском</a:t>
            </a:r>
            <a:r>
              <a:rPr lang="ru-RU" sz="4400" dirty="0" smtClean="0">
                <a:solidFill>
                  <a:schemeClr val="tx1"/>
                </a:solidFill>
              </a:rPr>
              <a:t> канале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8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025" y="1498257"/>
            <a:ext cx="49053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8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133" y="180884"/>
            <a:ext cx="8218954" cy="1005826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tx1"/>
                </a:solidFill>
              </a:rPr>
              <a:t>Блоковая ошибка и пропускная способность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9</a:t>
            </a:fld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39114" y="164344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064493"/>
              </p:ext>
            </p:extLst>
          </p:nvPr>
        </p:nvGraphicFramePr>
        <p:xfrm>
          <a:off x="642551" y="5403870"/>
          <a:ext cx="27241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r:id="rId3" imgW="2730500" imgH="584200" progId="Equation.3">
                  <p:embed/>
                </p:oleObj>
              </mc:Choice>
              <mc:Fallback>
                <p:oleObj r:id="rId3" imgW="2730500" imgH="584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51" y="5403870"/>
                        <a:ext cx="27241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39114" y="223399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7" y="1367978"/>
            <a:ext cx="4159646" cy="3545928"/>
          </a:xfrm>
          <a:prstGeom prst="rect">
            <a:avLst/>
          </a:prstGeom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313405" y="551554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715729"/>
              </p:ext>
            </p:extLst>
          </p:nvPr>
        </p:nvGraphicFramePr>
        <p:xfrm>
          <a:off x="4683211" y="5108707"/>
          <a:ext cx="33909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6" imgW="3390900" imgH="520700" progId="Equation.3">
                  <p:embed/>
                </p:oleObj>
              </mc:Choice>
              <mc:Fallback>
                <p:oleObj r:id="rId6" imgW="3390900" imgH="520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211" y="5108707"/>
                        <a:ext cx="33909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22610" y="53706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2572" y="1347413"/>
            <a:ext cx="4379755" cy="35664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40906" y="5672295"/>
            <a:ext cx="4361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 err="1" smtClean="0"/>
              <a:t>N</a:t>
            </a:r>
            <a:r>
              <a:rPr lang="ru-RU" sz="1200" i="1" baseline="-25000" dirty="0" err="1" smtClean="0"/>
              <a:t>t</a:t>
            </a:r>
            <a:r>
              <a:rPr lang="ru-RU" sz="1200" dirty="0" smtClean="0"/>
              <a:t> </a:t>
            </a:r>
            <a:r>
              <a:rPr lang="ru-RU" sz="1200" dirty="0"/>
              <a:t>– общее число символов; </a:t>
            </a:r>
            <a:r>
              <a:rPr lang="ru-RU" sz="1200" i="1" dirty="0" err="1"/>
              <a:t>N</a:t>
            </a:r>
            <a:r>
              <a:rPr lang="ru-RU" sz="1200" i="1" baseline="-25000" dirty="0" err="1"/>
              <a:t>p</a:t>
            </a:r>
            <a:r>
              <a:rPr lang="ru-RU" sz="1200" dirty="0"/>
              <a:t> – число пилотных символов, </a:t>
            </a:r>
            <a:r>
              <a:rPr lang="ru-RU" sz="1200" i="1" dirty="0" err="1"/>
              <a:t>k</a:t>
            </a:r>
            <a:r>
              <a:rPr lang="ru-RU" sz="1200" i="1" baseline="-25000" dirty="0" err="1"/>
              <a:t>b</a:t>
            </a:r>
            <a:r>
              <a:rPr lang="ru-RU" sz="1200" dirty="0"/>
              <a:t> - уровень модуляции (битовая загрузка символа), </a:t>
            </a:r>
            <a:r>
              <a:rPr lang="ru-RU" sz="1200" i="1" dirty="0" err="1"/>
              <a:t>R</a:t>
            </a:r>
            <a:r>
              <a:rPr lang="ru-RU" sz="1200" i="1" baseline="-25000" dirty="0" err="1"/>
              <a:t>c</a:t>
            </a:r>
            <a:r>
              <a:rPr lang="ru-RU" sz="1200" dirty="0"/>
              <a:t> - скорость кода.</a:t>
            </a:r>
          </a:p>
        </p:txBody>
      </p:sp>
    </p:spTree>
    <p:extLst>
      <p:ext uri="{BB962C8B-B14F-4D97-AF65-F5344CB8AC3E}">
        <p14:creationId xmlns:p14="http://schemas.microsoft.com/office/powerpoint/2010/main" val="339834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1290" y="300624"/>
            <a:ext cx="7227894" cy="844740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chemeClr val="tx1"/>
                </a:solidFill>
              </a:rPr>
              <a:t>Эффективность адаптивной модуляции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10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C:\Users\1\Desktop\диплом\диплом\текст!\2222222.jpg"/>
          <p:cNvPicPr/>
          <p:nvPr/>
        </p:nvPicPr>
        <p:blipFill>
          <a:blip r:embed="rId2" cstate="print"/>
          <a:srcRect b="15721"/>
          <a:stretch>
            <a:fillRect/>
          </a:stretch>
        </p:blipFill>
        <p:spPr bwMode="auto">
          <a:xfrm>
            <a:off x="801290" y="1145364"/>
            <a:ext cx="7650915" cy="2507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387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75156"/>
            <a:ext cx="6827208" cy="1111657"/>
          </a:xfrm>
        </p:spPr>
        <p:txBody>
          <a:bodyPr>
            <a:normAutofit fontScale="90000"/>
          </a:bodyPr>
          <a:lstStyle/>
          <a:p>
            <a:r>
              <a:rPr lang="ru-RU" sz="4000" dirty="0" smtClean="0"/>
              <a:t>Выбор порогов для адаптивной модуляции</a:t>
            </a:r>
            <a:endParaRPr lang="ru-RU" sz="4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11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8" name="Рисунок 7" descr="F:\am1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790" y="1361946"/>
            <a:ext cx="4838700" cy="334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551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244" y="200416"/>
            <a:ext cx="7570119" cy="97476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Результаты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12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51" y="1561010"/>
            <a:ext cx="3832692" cy="301969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03" y="1561009"/>
            <a:ext cx="3936223" cy="301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9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8579" y="25052"/>
            <a:ext cx="8045468" cy="1065644"/>
          </a:xfrm>
        </p:spPr>
        <p:txBody>
          <a:bodyPr>
            <a:noAutofit/>
          </a:bodyPr>
          <a:lstStyle/>
          <a:p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13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3" y="1782672"/>
            <a:ext cx="3931089" cy="314638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313" y="1782672"/>
            <a:ext cx="3845576" cy="31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2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8579" y="25052"/>
            <a:ext cx="8045468" cy="1065644"/>
          </a:xfrm>
        </p:spPr>
        <p:txBody>
          <a:bodyPr>
            <a:noAutofit/>
          </a:bodyPr>
          <a:lstStyle/>
          <a:p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14</a:t>
            </a:fld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9" y="1835739"/>
            <a:ext cx="3981458" cy="32849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670" y="1835739"/>
            <a:ext cx="4206564" cy="328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2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>
                <a:solidFill>
                  <a:schemeClr val="tx1"/>
                </a:solidFill>
              </a:rPr>
              <a:t>Заключение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2960" y="1737361"/>
            <a:ext cx="7543801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15</a:t>
            </a:fld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14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D1207-A211-430D-84A8-323056D46506}" type="slidenum">
              <a:rPr lang="ru-RU" sz="1800" smtClean="0">
                <a:solidFill>
                  <a:schemeClr val="tx1"/>
                </a:solidFill>
              </a:rPr>
              <a:pPr/>
              <a:t>16</a:t>
            </a:fld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1600200" y="1846263"/>
            <a:ext cx="7543800" cy="4022725"/>
          </a:xfrm>
        </p:spPr>
        <p:txBody>
          <a:bodyPr/>
          <a:lstStyle/>
          <a:p>
            <a:endParaRPr lang="ru-RU" dirty="0" smtClean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247800" y="2786789"/>
            <a:ext cx="7562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 smtClean="0"/>
              <a:t>Спасибо за внимание!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86775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Другая 1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000000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2633</TotalTime>
  <Words>195</Words>
  <Application>Microsoft Office PowerPoint</Application>
  <PresentationFormat>Экран (4:3)</PresentationFormat>
  <Paragraphs>54</Paragraphs>
  <Slides>16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Ретро</vt:lpstr>
      <vt:lpstr>Equation.3</vt:lpstr>
      <vt:lpstr>Тема:  Эффективность адаптивной модуляции в системах мобильной связи при передаче информации в многолучевых каналах</vt:lpstr>
      <vt:lpstr>Цель работы</vt:lpstr>
      <vt:lpstr>Задачи</vt:lpstr>
      <vt:lpstr>Модуляция и демодуляция</vt:lpstr>
      <vt:lpstr>Модель Кларка </vt:lpstr>
      <vt:lpstr>Модель Кларка</vt:lpstr>
      <vt:lpstr>Статистические характеристики модели Кларка</vt:lpstr>
      <vt:lpstr>Вероятность битовой ошибки в релеевском канале</vt:lpstr>
      <vt:lpstr>Блоковая ошибка и пропускная способность</vt:lpstr>
      <vt:lpstr>Эффективность адаптивной модуляции</vt:lpstr>
      <vt:lpstr>Выбор порогов для адаптивной модуляции</vt:lpstr>
      <vt:lpstr>Результаты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Симонов</dc:creator>
  <cp:lastModifiedBy>Евгений Симонов</cp:lastModifiedBy>
  <cp:revision>144</cp:revision>
  <dcterms:created xsi:type="dcterms:W3CDTF">2022-06-01T18:30:35Z</dcterms:created>
  <dcterms:modified xsi:type="dcterms:W3CDTF">2024-05-21T20:40:39Z</dcterms:modified>
</cp:coreProperties>
</file>